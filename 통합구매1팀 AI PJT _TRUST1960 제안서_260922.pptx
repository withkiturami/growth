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  <p:sldMasterId id="2147483652" r:id="rId2"/>
    <p:sldMasterId id="2147483654" r:id="rId3"/>
    <p:sldMasterId id="2147483656" r:id="rId4"/>
    <p:sldMasterId id="2147483658" r:id="rId5"/>
    <p:sldMasterId id="2147483660" r:id="rId6"/>
    <p:sldMasterId id="2147483662" r:id="rId7"/>
    <p:sldMasterId id="2147483664" r:id="rId8"/>
    <p:sldMasterId id="2147483666" r:id="rId9"/>
    <p:sldMasterId id="2147483668" r:id="rId10"/>
  </p:sldMasterIdLst>
  <p:sldIdLst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3" r:id="rId18"/>
    <p:sldId id="284" r:id="rId19"/>
    <p:sldId id="285" r:id="rId20"/>
    <p:sldId id="282" r:id="rId21"/>
    <p:sldId id="281" r:id="rId22"/>
  </p:sldIdLst>
  <p:sldSz cx="12192000" cy="685800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096AE09-5C57-450F-AFAC-5171AFDB507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385FD45-2C24-4403-8953-35EC893F8BC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5DC7A33-AB01-4762-BF99-9D87B0DE30B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29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6C34248-48AE-44CF-9A1C-DEB5AE0CBFD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E98B1B4B-2DED-49E9-B890-93E6422FFF6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322627CC-C1FC-49D2-8ED3-7D3886C7B0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E7156574-57BD-4138-A377-DC281F1A110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EC65FDB-112C-4FA2-AE11-D218B6561ED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42F32820-83C0-45CA-9817-85AACF5EF6E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80E3CF84-26D0-4BC1-9DD8-ADC5E40D268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B98AA7-4EEE-480D-8CA0-31EE1001729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C7E878-BC08-4C16-9598-CFCEC3F5567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930A08-2F63-445C-B895-F9D8547B8BB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60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60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24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마스터 텍스트 스타일 편집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377A05-CA12-4BDC-B8B6-6867CB751D4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0CC215-AE5F-4064-92BB-4D4F3D55258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2400" b="1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2400" b="1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447BA6-CFEB-4697-B79A-8A62A978CE1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A71601-85A9-4384-8D8A-DB1D7F327FE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AAF467-3591-4C74-8D8F-5E279E467A6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둘째 수준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셋째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넷째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다섯째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1600" b="0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16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3A9E44-CCFA-4642-9D40-D26DC11FAB0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Seventh Outline Level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1600" b="0" strike="noStrike" spc="-1">
                <a:solidFill>
                  <a:schemeClr val="dk1"/>
                </a:solidFill>
                <a:latin typeface="맑은 고딕"/>
              </a:rPr>
              <a:t>마스터 텍스트 스타일 편집</a:t>
            </a:r>
            <a:endParaRPr lang="en-US" sz="16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E0BE7B-AA36-4292-AE30-5BD4D0C9B9E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7432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차례</a:t>
            </a:r>
            <a:endParaRPr sz="2000" b="1" dirty="0">
              <a:solidFill>
                <a:srgbClr val="E877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24128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목차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91056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6070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귀뚜라미가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41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년을 걸어오는 동안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그 길은 혼자 걸은 길이 아니었습니다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.</a:t>
            </a:r>
            <a:endParaRPr sz="1600" b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2103120"/>
            <a:ext cx="52578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2487167"/>
            <a:ext cx="64008" cy="27432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1078992" y="2450591"/>
            <a:ext cx="44348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무엇을</a:t>
            </a:r>
            <a:r>
              <a:rPr sz="24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보여주는가</a:t>
            </a:r>
            <a:endParaRPr sz="2400" b="1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77824" y="2999232"/>
            <a:ext cx="4636008" cy="13716"/>
          </a:xfrm>
          <a:prstGeom prst="roundRect">
            <a:avLst>
              <a:gd name="adj" fmla="val 50000"/>
            </a:avLst>
          </a:prstGeom>
          <a:solidFill>
            <a:srgbClr val="DE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Oval 12"/>
          <p:cNvSpPr/>
          <p:nvPr/>
        </p:nvSpPr>
        <p:spPr>
          <a:xfrm>
            <a:off x="877824" y="3200399"/>
            <a:ext cx="384048" cy="384048"/>
          </a:xfrm>
          <a:prstGeom prst="ellipse">
            <a:avLst/>
          </a:prstGeom>
          <a:solidFill>
            <a:srgbClr val="0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163823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첫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529583"/>
            <a:ext cx="4069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함께 가는 길 — 무엇을 위한 사이트인가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44752" y="3813048"/>
            <a:ext cx="4069080" cy="10972"/>
          </a:xfrm>
          <a:prstGeom prst="roundRect">
            <a:avLst>
              <a:gd name="adj" fmla="val 50000"/>
            </a:avLst>
          </a:prstGeom>
          <a:solidFill>
            <a:srgbClr val="DE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Oval 16"/>
          <p:cNvSpPr/>
          <p:nvPr/>
        </p:nvSpPr>
        <p:spPr>
          <a:xfrm>
            <a:off x="877824" y="3986783"/>
            <a:ext cx="384048" cy="384048"/>
          </a:xfrm>
          <a:prstGeom prst="ellipse">
            <a:avLst/>
          </a:prstGeom>
          <a:solidFill>
            <a:srgbClr val="0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950207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주간 소식 · 나눔 발자취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315968"/>
            <a:ext cx="4069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주간 동행 · 성장과 5년의 전달 기록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44752" y="4599432"/>
            <a:ext cx="4069080" cy="10972"/>
          </a:xfrm>
          <a:prstGeom prst="roundRect">
            <a:avLst>
              <a:gd name="adj" fmla="val 50000"/>
            </a:avLst>
          </a:prstGeom>
          <a:solidFill>
            <a:srgbClr val="DE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Oval 20"/>
          <p:cNvSpPr/>
          <p:nvPr/>
        </p:nvSpPr>
        <p:spPr>
          <a:xfrm>
            <a:off x="877824" y="4773168"/>
            <a:ext cx="384048" cy="384048"/>
          </a:xfrm>
          <a:prstGeom prst="ellipse">
            <a:avLst/>
          </a:prstGeom>
          <a:solidFill>
            <a:srgbClr val="0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73659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뉴스레터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5102352"/>
            <a:ext cx="4069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한 </a:t>
            </a:r>
            <a:r>
              <a:rPr sz="1400" b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주를</a:t>
            </a:r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한 </a:t>
            </a:r>
            <a:r>
              <a:rPr sz="1400" b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호로</a:t>
            </a:r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묶어</a:t>
            </a:r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PDF </a:t>
            </a:r>
            <a:r>
              <a:rPr sz="1400" b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배포</a:t>
            </a:r>
            <a:endParaRPr sz="1400" b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444752" y="5385816"/>
            <a:ext cx="4069080" cy="10972"/>
          </a:xfrm>
          <a:prstGeom prst="roundRect">
            <a:avLst>
              <a:gd name="adj" fmla="val 50000"/>
            </a:avLst>
          </a:prstGeom>
          <a:solidFill>
            <a:srgbClr val="DE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Oval 24"/>
          <p:cNvSpPr/>
          <p:nvPr/>
        </p:nvSpPr>
        <p:spPr>
          <a:xfrm>
            <a:off x="877824" y="5559551"/>
            <a:ext cx="384048" cy="384048"/>
          </a:xfrm>
          <a:prstGeom prst="ellipse">
            <a:avLst/>
          </a:prstGeom>
          <a:solidFill>
            <a:srgbClr val="0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522975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원자재 · 환율 시세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5888736"/>
            <a:ext cx="4069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왜 </a:t>
            </a:r>
            <a:r>
              <a:rPr sz="1400" b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공개하는가</a:t>
            </a:r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· 12개 </a:t>
            </a:r>
            <a:r>
              <a:rPr sz="1400" b="0" dirty="0" err="1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지표</a:t>
            </a:r>
            <a:endParaRPr sz="1400" b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364224" y="2103120"/>
            <a:ext cx="52578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675120" y="2487167"/>
            <a:ext cx="64008" cy="27432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6876288" y="2450591"/>
            <a:ext cx="44348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어떻게</a:t>
            </a:r>
            <a:r>
              <a:rPr sz="24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만들었는가</a:t>
            </a:r>
            <a:endParaRPr sz="2400" b="1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675120" y="2999232"/>
            <a:ext cx="4636008" cy="13716"/>
          </a:xfrm>
          <a:prstGeom prst="roundRect">
            <a:avLst>
              <a:gd name="adj" fmla="val 50000"/>
            </a:avLst>
          </a:prstGeom>
          <a:solidFill>
            <a:srgbClr val="DE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Oval 32"/>
          <p:cNvSpPr/>
          <p:nvPr/>
        </p:nvSpPr>
        <p:spPr>
          <a:xfrm>
            <a:off x="6675120" y="3200399"/>
            <a:ext cx="384048" cy="384048"/>
          </a:xfrm>
          <a:prstGeom prst="ellipse">
            <a:avLst/>
          </a:prstGeom>
          <a:solidFill>
            <a:srgbClr val="0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2048" y="3163823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백 </a:t>
            </a:r>
            <a:r>
              <a:rPr sz="20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그라운드</a:t>
            </a:r>
            <a:r>
              <a:rPr sz="20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기획</a:t>
            </a:r>
            <a:endParaRPr sz="2000" b="1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42048" y="3529583"/>
            <a:ext cx="4069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회장님</a:t>
            </a:r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그림에서</a:t>
            </a:r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가져</a:t>
            </a:r>
            <a:r>
              <a:rPr lang="ko-KR" altLang="en-US" sz="1400" b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온 것</a:t>
            </a:r>
            <a:endParaRPr sz="1400" b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242048" y="4075175"/>
            <a:ext cx="4069080" cy="10972"/>
          </a:xfrm>
          <a:prstGeom prst="roundRect">
            <a:avLst>
              <a:gd name="adj" fmla="val 50000"/>
            </a:avLst>
          </a:prstGeom>
          <a:solidFill>
            <a:srgbClr val="DE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Oval 36"/>
          <p:cNvSpPr/>
          <p:nvPr/>
        </p:nvSpPr>
        <p:spPr>
          <a:xfrm>
            <a:off x="6675120" y="4248911"/>
            <a:ext cx="384048" cy="384048"/>
          </a:xfrm>
          <a:prstGeom prst="ellipse">
            <a:avLst/>
          </a:prstGeom>
          <a:solidFill>
            <a:srgbClr val="0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2048" y="4212335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화면</a:t>
            </a:r>
            <a:r>
              <a:rPr sz="20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설계</a:t>
            </a:r>
            <a:endParaRPr sz="2000" b="1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42048" y="4578095"/>
            <a:ext cx="4069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왜 일출인가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42048" y="5123687"/>
            <a:ext cx="4069080" cy="10972"/>
          </a:xfrm>
          <a:prstGeom prst="roundRect">
            <a:avLst>
              <a:gd name="adj" fmla="val 50000"/>
            </a:avLst>
          </a:prstGeom>
          <a:solidFill>
            <a:srgbClr val="DE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Oval 40"/>
          <p:cNvSpPr/>
          <p:nvPr/>
        </p:nvSpPr>
        <p:spPr>
          <a:xfrm>
            <a:off x="6675120" y="5297423"/>
            <a:ext cx="384048" cy="384048"/>
          </a:xfrm>
          <a:prstGeom prst="ellipse">
            <a:avLst/>
          </a:prstGeom>
          <a:solidFill>
            <a:srgbClr val="0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2048" y="5260847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화면 설계 · 자세히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5626607"/>
            <a:ext cx="4069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배경에 담은 뜻</a:t>
            </a:r>
          </a:p>
        </p:txBody>
      </p:sp>
    </p:spTree>
    <p:extLst>
      <p:ext uri="{BB962C8B-B14F-4D97-AF65-F5344CB8AC3E}">
        <p14:creationId xmlns:p14="http://schemas.microsoft.com/office/powerpoint/2010/main" val="368531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01   첫 </a:t>
            </a:r>
            <a:r>
              <a:rPr sz="2400" b="1" i="0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화면</a:t>
            </a:r>
            <a:endParaRPr sz="2400" b="1" i="0" dirty="0">
              <a:solidFill>
                <a:srgbClr val="E877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2412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함께 가는 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91056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70078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사이트를 열면 이 화면이 4초 동안 먼저 뜹니다.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35508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AB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pic>
        <p:nvPicPr>
          <p:cNvPr id="8" name="Picture 7" descr="16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" y="2084831"/>
            <a:ext cx="6847027" cy="42793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2084831"/>
            <a:ext cx="4114800" cy="134112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00416" y="2240279"/>
            <a:ext cx="493776" cy="493776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2203703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신뢰로 함께 갑니다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8784" y="2578608"/>
            <a:ext cx="3172968" cy="526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귀뚜라미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좋은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소식을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협력사와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나누며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
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서로의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신뢰를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쌓습니다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80960" y="3553967"/>
            <a:ext cx="4114800" cy="134112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900416" y="3709416"/>
            <a:ext cx="493776" cy="493776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672840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나눔의 기록을 알립니다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8784" y="4047743"/>
            <a:ext cx="3054096" cy="810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41년째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이어온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장학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사회공헌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,
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최근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5년의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전달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기록을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지도에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표기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80960" y="5023103"/>
            <a:ext cx="4114800" cy="134112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00416" y="5178551"/>
            <a:ext cx="493776" cy="493776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5141975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함께 가는 길에 담은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5516879"/>
            <a:ext cx="3054096" cy="810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동행 소식과 성장 소식
- 원자재 · 환율 시황
- 오전 10시 업데이트</a:t>
            </a:r>
          </a:p>
        </p:txBody>
      </p:sp>
    </p:spTree>
    <p:extLst>
      <p:ext uri="{BB962C8B-B14F-4D97-AF65-F5344CB8AC3E}">
        <p14:creationId xmlns:p14="http://schemas.microsoft.com/office/powerpoint/2010/main" val="261306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 dirty="0" smtClean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02   주간 소식 · 나눔 발자취</a:t>
            </a:r>
            <a:endParaRPr sz="2400" b="1" i="0" dirty="0">
              <a:solidFill>
                <a:srgbClr val="E877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2412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이번 주에 무슨 일이 있었나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91056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70078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사회공헌과 성장 소식을 주 단위로 모읍니다.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35508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AB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pic>
        <p:nvPicPr>
          <p:cNvPr id="8" name="Picture 7" descr="03_week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84831"/>
            <a:ext cx="3730752" cy="4011561"/>
          </a:xfrm>
          <a:prstGeom prst="rect">
            <a:avLst/>
          </a:prstGeom>
        </p:spPr>
      </p:pic>
      <p:pic>
        <p:nvPicPr>
          <p:cNvPr id="9" name="Picture 8" descr="04_map_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2084831"/>
            <a:ext cx="3127248" cy="4014439"/>
          </a:xfrm>
          <a:prstGeom prst="rect">
            <a:avLst/>
          </a:prstGeom>
        </p:spPr>
      </p:pic>
      <p:sp>
        <p:nvSpPr>
          <p:cNvPr id="10" name="표시 1"/>
          <p:cNvSpPr/>
          <p:nvPr/>
        </p:nvSpPr>
        <p:spPr>
          <a:xfrm>
            <a:off x="6754189" y="2170851"/>
            <a:ext cx="576876" cy="267138"/>
          </a:xfrm>
          <a:prstGeom prst="roundRect">
            <a:avLst>
              <a:gd name="adj" fmla="val 28000"/>
            </a:avLst>
          </a:prstGeom>
          <a:solidFill>
            <a:srgbClr val="FFFFFF">
              <a:alpha val="0"/>
            </a:srgbClr>
          </a:solidFill>
          <a:ln w="2857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80960" y="2084831"/>
            <a:ext cx="4114800" cy="973836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00416" y="2240279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03703"/>
            <a:ext cx="3108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주간 동행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578608"/>
            <a:ext cx="3108959" cy="526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450" b="0" i="0" dirty="0" err="1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이번</a:t>
            </a:r>
            <a:r>
              <a:rPr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주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사회공헌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소식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
</a:t>
            </a:r>
            <a:r>
              <a:rPr 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 (</a:t>
            </a:r>
            <a:r>
              <a:rPr sz="1450" b="0" i="0" dirty="0" err="1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건수</a:t>
            </a:r>
            <a:r>
              <a:rPr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인원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전달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금액</a:t>
            </a:r>
            <a:r>
              <a:rPr 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)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80960" y="3186684"/>
            <a:ext cx="4114800" cy="973836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00416" y="3342132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05556"/>
            <a:ext cx="3108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주간 성장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680460"/>
            <a:ext cx="3108959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450" b="0" i="0" dirty="0" err="1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최근</a:t>
            </a:r>
            <a:r>
              <a:rPr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4주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수상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실적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신제품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소식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680960" y="4288536"/>
            <a:ext cx="4114800" cy="973836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00416" y="4443983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407407"/>
            <a:ext cx="3108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기사로 이동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782312"/>
            <a:ext cx="3108959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제</a:t>
            </a:r>
            <a:r>
              <a:rPr lang="ko-KR" alt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목</a:t>
            </a:r>
            <a:r>
              <a:rPr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클릭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시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원문으로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이동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644384" y="5390388"/>
            <a:ext cx="4114800" cy="973836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900416" y="5545836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509259"/>
            <a:ext cx="3108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전체화면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884164"/>
            <a:ext cx="3108959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450" b="0" i="0" dirty="0" err="1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지도를</a:t>
            </a:r>
            <a:r>
              <a:rPr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크게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펼쳐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자세히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보기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193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 dirty="0" smtClean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02   주간 소식 · 나눔 발자취</a:t>
            </a:r>
            <a:endParaRPr sz="2400" b="1" i="0" dirty="0">
              <a:solidFill>
                <a:srgbClr val="E877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[전체화면]으로 펼치면 최근 5년의 전달 기록이 한눈에 들어옵니다.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35508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AB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>
        <p:nvPicPr>
          <p:cNvPr id="26" name="Picture 25" descr="map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51560"/>
            <a:ext cx="758952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21040" y="1051560"/>
            <a:ext cx="3401568" cy="118872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40496" y="1234439"/>
            <a:ext cx="402336" cy="402336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188719"/>
            <a:ext cx="25328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지역 누르기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554480"/>
            <a:ext cx="25968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전달일 · 인원 · 금액과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 보도 기사 링크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350008"/>
            <a:ext cx="3401568" cy="118872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40496" y="2532888"/>
            <a:ext cx="402336" cy="402336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87168"/>
            <a:ext cx="25328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연도 버튼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852928"/>
            <a:ext cx="25968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- 22~26년, 보고 싶은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 해만 골라 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648456"/>
            <a:ext cx="3401568" cy="118872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40496" y="3831335"/>
            <a:ext cx="402336" cy="402336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85615"/>
            <a:ext cx="25328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상단 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151376"/>
            <a:ext cx="25968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확인 기록 · 장학생 ·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 장학금 합계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946904"/>
            <a:ext cx="3401568" cy="118872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40496" y="5129784"/>
            <a:ext cx="402336" cy="402336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5084064"/>
            <a:ext cx="25328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전달 기록 목록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5449824"/>
            <a:ext cx="25968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최근 전달부터 지역 ·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 인원 · 금액</a:t>
            </a:r>
          </a:p>
        </p:txBody>
      </p:sp>
      <p:sp>
        <p:nvSpPr>
          <p:cNvPr id="27" name="표시 1"/>
          <p:cNvSpPr/>
          <p:nvPr/>
        </p:nvSpPr>
        <p:spPr>
          <a:xfrm>
            <a:off x="688360" y="1279931"/>
            <a:ext cx="1305397" cy="2309088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41096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03   </a:t>
            </a:r>
            <a:r>
              <a:rPr sz="2400" b="1" i="0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뉴스레터</a:t>
            </a:r>
            <a:endParaRPr sz="2400" b="1" i="0" dirty="0">
              <a:solidFill>
                <a:srgbClr val="E877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2412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한 주를 한 호로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91056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70078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주간 소식을 호 단위로 묶어 PDF로 내려받습니다.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37576" y="6355080"/>
            <a:ext cx="34472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AB6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28" name="Picture 27" descr="n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11680"/>
            <a:ext cx="6263640" cy="43799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69480" y="2084831"/>
            <a:ext cx="4434840" cy="973836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88936" y="2240279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6" y="2203703"/>
            <a:ext cx="34472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매주 한 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6" y="2578608"/>
            <a:ext cx="3447287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450" b="0" i="0" dirty="0" err="1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매주</a:t>
            </a:r>
            <a:r>
              <a:rPr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월요일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오전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10시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업데이트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269480" y="3186684"/>
            <a:ext cx="4434840" cy="973836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488936" y="3342132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3305556"/>
            <a:ext cx="34472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두 갈래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3680460"/>
            <a:ext cx="3447287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450" b="0" i="0" dirty="0" err="1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주간</a:t>
            </a:r>
            <a:r>
              <a:rPr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동행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주간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성장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269480" y="4288536"/>
            <a:ext cx="4434840" cy="973836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88936" y="4443983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576" y="4407407"/>
            <a:ext cx="34472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PDF 내려받기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6" y="4782312"/>
            <a:ext cx="3447287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호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오른쪽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위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주황색</a:t>
            </a:r>
            <a:r>
              <a:rPr sz="1450" b="0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버튼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69480" y="5390388"/>
            <a:ext cx="4434840" cy="973836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88936" y="5545836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6" y="5509259"/>
            <a:ext cx="34472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지난 호 · 검색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6" y="5884164"/>
            <a:ext cx="3447287" cy="246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ko-KR" altLang="en-US" sz="145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검색을 통해 과거 기사 확인 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표시 1"/>
          <p:cNvSpPr/>
          <p:nvPr/>
        </p:nvSpPr>
        <p:spPr>
          <a:xfrm>
            <a:off x="5971031" y="2151839"/>
            <a:ext cx="758953" cy="253034"/>
          </a:xfrm>
          <a:prstGeom prst="roundRect">
            <a:avLst>
              <a:gd name="adj" fmla="val 30000"/>
            </a:avLst>
          </a:prstGeom>
          <a:solidFill>
            <a:srgbClr val="FFFFFF">
              <a:alpha val="0"/>
            </a:srgbClr>
          </a:solidFill>
          <a:ln w="222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표시 1"/>
          <p:cNvSpPr/>
          <p:nvPr/>
        </p:nvSpPr>
        <p:spPr>
          <a:xfrm>
            <a:off x="604509" y="2064239"/>
            <a:ext cx="1803928" cy="175199"/>
          </a:xfrm>
          <a:prstGeom prst="roundRect">
            <a:avLst>
              <a:gd name="adj" fmla="val 30000"/>
            </a:avLst>
          </a:prstGeom>
          <a:solidFill>
            <a:srgbClr val="FFFFFF">
              <a:alpha val="0"/>
            </a:srgbClr>
          </a:solidFill>
          <a:ln w="222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1166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04   </a:t>
            </a:r>
            <a:r>
              <a:rPr lang="ko-KR" altLang="en-US"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원자재 </a:t>
            </a:r>
            <a:r>
              <a:rPr lang="en-US" altLang="ko-KR"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· </a:t>
            </a:r>
            <a:r>
              <a:rPr lang="ko-KR" altLang="en-US" sz="2400" b="1" dirty="0" smtClean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환율</a:t>
            </a:r>
            <a:r>
              <a:rPr lang="ko-KR" altLang="en-US"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ko-KR"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· </a:t>
            </a:r>
            <a:r>
              <a:rPr lang="ko-KR" altLang="en-US" sz="2400" b="1" dirty="0" smtClean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유가 시세</a:t>
            </a:r>
            <a:endParaRPr sz="2400" b="1" i="0" dirty="0">
              <a:solidFill>
                <a:srgbClr val="E877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2412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왜 시세를 공개하는가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91056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70078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투명하게</a:t>
            </a:r>
            <a:r>
              <a:rPr sz="1500" b="1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공개해</a:t>
            </a:r>
            <a:r>
              <a:rPr sz="1500" b="1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신뢰를</a:t>
            </a:r>
            <a:r>
              <a:rPr sz="1500" b="1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쌓고</a:t>
            </a:r>
            <a:r>
              <a:rPr sz="1500" b="1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1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찾아올</a:t>
            </a:r>
            <a:r>
              <a:rPr sz="1500" b="1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이유를</a:t>
            </a:r>
            <a:r>
              <a:rPr sz="1500" b="1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만듭니다</a:t>
            </a:r>
            <a:r>
              <a:rPr sz="1500" b="1" i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pic>
        <p:nvPicPr>
          <p:cNvPr id="8" name="Picture 7" descr="02_mkt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18" y="2029968"/>
            <a:ext cx="9034591" cy="3138100"/>
          </a:xfrm>
          <a:prstGeom prst="rect">
            <a:avLst/>
          </a:prstGeom>
        </p:spPr>
      </p:pic>
      <p:sp>
        <p:nvSpPr>
          <p:cNvPr id="9" name="표시 1"/>
          <p:cNvSpPr/>
          <p:nvPr/>
        </p:nvSpPr>
        <p:spPr>
          <a:xfrm>
            <a:off x="3244436" y="2059456"/>
            <a:ext cx="806355" cy="299696"/>
          </a:xfrm>
          <a:prstGeom prst="roundRect">
            <a:avLst>
              <a:gd name="adj" fmla="val 28000"/>
            </a:avLst>
          </a:prstGeom>
          <a:solidFill>
            <a:srgbClr val="FFFFFF">
              <a:alpha val="0"/>
            </a:srgbClr>
          </a:solidFill>
          <a:ln w="2857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33991" y="5303520"/>
            <a:ext cx="4114800" cy="1335024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3447" y="5486400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83096" y="54589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신뢰를</a:t>
            </a:r>
            <a:r>
              <a:rPr sz="1800" b="1" i="0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0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쌓습니다</a:t>
            </a:r>
            <a:endParaRPr sz="1800" b="1" i="0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83096" y="5779008"/>
            <a:ext cx="32004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lang="ko-KR" alt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시세를 서로 확인하며 업체와의 협상과정에서 불필요한 소모를 줄입니다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77518" y="5303520"/>
            <a:ext cx="4114800" cy="1335024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5851" y="5486400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6464" y="54589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800" b="1" i="0" dirty="0" smtClean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반복 </a:t>
            </a:r>
            <a:r>
              <a:rPr sz="1800" b="1" i="0" dirty="0" err="1" smtClean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방문</a:t>
            </a:r>
            <a:r>
              <a:rPr sz="1800" b="1" i="0" dirty="0" smtClean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0" dirty="0" err="1" smtClean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동기를</a:t>
            </a:r>
            <a:r>
              <a:rPr sz="1800" b="1" i="0" dirty="0" smtClean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0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만듭니다</a:t>
            </a:r>
            <a:endParaRPr sz="1800" b="1" i="0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Rounded Rectangle 13"/>
          <p:cNvSpPr/>
          <p:nvPr/>
        </p:nvSpPr>
        <p:spPr>
          <a:xfrm>
            <a:off x="9767586" y="2029438"/>
            <a:ext cx="2366154" cy="3138629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26464" y="5779008"/>
            <a:ext cx="3200400" cy="500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lang="ko-KR" alt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다양한 시세를 한곳에서 볼 수 있는 </a:t>
            </a:r>
            <a:endParaRPr lang="en-US" altLang="ko-KR" sz="1450" b="0" i="0" dirty="0" smtClean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16000"/>
              </a:lnSpc>
            </a:pPr>
            <a:r>
              <a:rPr lang="ko-KR" altLang="en-US" sz="1450" b="0" i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편의성을 제공합니다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29800" y="2212848"/>
            <a:ext cx="2240280" cy="2880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[ </a:t>
            </a:r>
            <a:r>
              <a:rPr sz="16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주요</a:t>
            </a:r>
            <a:r>
              <a:rPr sz="16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제공</a:t>
            </a:r>
            <a:r>
              <a:rPr sz="16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정보</a:t>
            </a:r>
            <a:r>
              <a:rPr sz="16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1" dirty="0" smtClean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600" b="1" dirty="0" smtClean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30000"/>
              </a:lnSpc>
            </a:pPr>
            <a:endParaRPr sz="800" b="1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6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비철</a:t>
            </a:r>
            <a:r>
              <a:rPr sz="16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4종</a:t>
            </a:r>
          </a:p>
          <a:p>
            <a:pPr>
              <a:lnSpc>
                <a:spcPct val="130000"/>
              </a:lnSpc>
            </a:pPr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 동 · </a:t>
            </a:r>
            <a:r>
              <a:rPr sz="1400" b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알루미늄</a:t>
            </a:r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00" b="0" dirty="0" err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니켈</a:t>
            </a:r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00" b="0" dirty="0" err="1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아연</a:t>
            </a:r>
            <a:endParaRPr lang="en-US" sz="1400" b="0" dirty="0" smtClean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endParaRPr sz="1400" b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6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유가</a:t>
            </a:r>
            <a:r>
              <a:rPr sz="16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3종 + </a:t>
            </a:r>
            <a:r>
              <a:rPr sz="16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나프타</a:t>
            </a:r>
            <a:endParaRPr sz="1600" b="1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 Dubai · Brent · </a:t>
            </a:r>
            <a:r>
              <a:rPr sz="1400" b="0" dirty="0" smtClean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WTI</a:t>
            </a:r>
            <a:endParaRPr lang="en-US" sz="1400" b="0" dirty="0" smtClean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endParaRPr sz="1400" b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6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환율</a:t>
            </a:r>
            <a:r>
              <a:rPr sz="16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4종</a:t>
            </a:r>
          </a:p>
          <a:p>
            <a:pPr>
              <a:lnSpc>
                <a:spcPct val="130000"/>
              </a:lnSpc>
            </a:pPr>
            <a:r>
              <a:rPr sz="1400" b="0" dirty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  USD · CNY · JPY · 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35508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AB6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0267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mk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1536192"/>
            <a:ext cx="5788152" cy="329184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35508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AB6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>
        <p:nvPicPr>
          <p:cNvPr id="27" name="Picture 26" descr="all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536192"/>
            <a:ext cx="5138928" cy="3291840"/>
          </a:xfrm>
          <a:prstGeom prst="rect">
            <a:avLst/>
          </a:prstGeom>
        </p:spPr>
      </p:pic>
      <p:sp>
        <p:nvSpPr>
          <p:cNvPr id="9" name="표시 1"/>
          <p:cNvSpPr/>
          <p:nvPr/>
        </p:nvSpPr>
        <p:spPr>
          <a:xfrm>
            <a:off x="9635267" y="2067191"/>
            <a:ext cx="1777675" cy="203363"/>
          </a:xfrm>
          <a:prstGeom prst="roundRect">
            <a:avLst>
              <a:gd name="adj" fmla="val 28000"/>
            </a:avLst>
          </a:prstGeom>
          <a:solidFill>
            <a:srgbClr val="FFFFFF">
              <a:alpha val="0"/>
            </a:srgbClr>
          </a:solidFill>
          <a:ln w="2857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4974336"/>
            <a:ext cx="5138928" cy="1572768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6" y="749808"/>
            <a:ext cx="5788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12개 </a:t>
            </a:r>
            <a:r>
              <a:rPr sz="2400" b="1" i="0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지표</a:t>
            </a:r>
            <a:r>
              <a:rPr sz="2400" b="1" i="0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i="0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전부</a:t>
            </a:r>
            <a:endParaRPr sz="1800" b="1" i="0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7824" y="5120640"/>
            <a:ext cx="4517136" cy="1316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6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·  LME 원자재 4종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6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·  유가 3종 및 나프타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6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·  주요 환율 4종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7024" y="4974336"/>
            <a:ext cx="5788152" cy="1572768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217920" y="5120640"/>
            <a:ext cx="5166360" cy="1316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6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·  기간별 조회 — 12개월 · 5개년</a:t>
            </a:r>
            <a:endParaRPr lang="en-US" altLang="ko-KR" sz="1450" b="0" i="0" dirty="0" smtClean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·  시점별 단가 조회 — 그래프 위 툴팁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6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·  월별 상세 변동 내역 — 5개년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60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·  일일 시세 변동 흐름 — 최근 30일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7432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04   </a:t>
            </a:r>
            <a:r>
              <a:rPr lang="ko-KR" altLang="en-US"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원자재 </a:t>
            </a:r>
            <a:r>
              <a:rPr lang="en-US" altLang="ko-KR"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· </a:t>
            </a:r>
            <a:r>
              <a:rPr lang="ko-KR" altLang="en-US"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환율 </a:t>
            </a:r>
            <a:r>
              <a:rPr lang="en-US" altLang="ko-KR"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· </a:t>
            </a:r>
            <a:r>
              <a:rPr lang="ko-KR" altLang="en-US"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유가 시세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749808"/>
            <a:ext cx="5788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i="0" dirty="0" smtClean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품목별로 더 깊게</a:t>
            </a:r>
            <a:endParaRPr sz="1800" b="1" i="0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66928" y="786384"/>
            <a:ext cx="365760" cy="365760"/>
          </a:xfrm>
          <a:prstGeom prst="ellipse">
            <a:avLst/>
          </a:prstGeom>
          <a:solidFill>
            <a:srgbClr val="0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1298448"/>
            <a:ext cx="566928" cy="2743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207007" y="1298448"/>
            <a:ext cx="4498848" cy="14630"/>
          </a:xfrm>
          <a:prstGeom prst="roundRect">
            <a:avLst>
              <a:gd name="adj" fmla="val 50000"/>
            </a:avLst>
          </a:prstGeom>
          <a:solidFill>
            <a:srgbClr val="DE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907024" y="786384"/>
            <a:ext cx="365760" cy="365760"/>
          </a:xfrm>
          <a:prstGeom prst="ellipse">
            <a:avLst/>
          </a:prstGeom>
          <a:solidFill>
            <a:srgbClr val="0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07024" y="1298448"/>
            <a:ext cx="566928" cy="2743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47104" y="1298448"/>
            <a:ext cx="5148072" cy="14630"/>
          </a:xfrm>
          <a:prstGeom prst="roundRect">
            <a:avLst>
              <a:gd name="adj" fmla="val 50000"/>
            </a:avLst>
          </a:prstGeom>
          <a:solidFill>
            <a:srgbClr val="DE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3679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05   백 </a:t>
            </a:r>
            <a:r>
              <a:rPr sz="2400" b="1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그라운드</a:t>
            </a:r>
            <a:r>
              <a:rPr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이미지</a:t>
            </a:r>
            <a:r>
              <a:rPr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기획</a:t>
            </a:r>
            <a:endParaRPr sz="2400" b="1" dirty="0">
              <a:solidFill>
                <a:srgbClr val="E877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만든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배경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(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회장님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그림에서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영감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받은것들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91056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583680" y="1783080"/>
            <a:ext cx="5138928" cy="128016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21424" y="1920240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무엇을 가져왔는가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21424" y="2340864"/>
            <a:ext cx="4663440" cy="6338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표시한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자리의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다섯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색을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그대로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옮겼습니다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산과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능선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물에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비친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빛에서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일출을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얻었습니다</a:t>
            </a:r>
            <a:r>
              <a:rPr sz="160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29400" y="3154680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EF8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56248" y="3446922"/>
            <a:ext cx="9144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10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숲의</a:t>
            </a:r>
            <a:r>
              <a:rPr sz="1100" b="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주황</a:t>
            </a:r>
            <a:endParaRPr sz="1100" b="0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646309" y="3154680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93177" y="3446922"/>
            <a:ext cx="9144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100" b="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일출 </a:t>
            </a:r>
            <a:r>
              <a:rPr sz="1100" b="0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황금</a:t>
            </a:r>
            <a:endParaRPr sz="1100" b="0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663218" y="3154680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8FC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12926" y="3446922"/>
            <a:ext cx="9144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100" b="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호수의 </a:t>
            </a:r>
            <a:r>
              <a:rPr sz="1100" b="0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청록</a:t>
            </a:r>
            <a:endParaRPr sz="1100" b="0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680127" y="3154680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58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19488" y="3446922"/>
            <a:ext cx="9144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100" b="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달빛 </a:t>
            </a:r>
            <a:r>
              <a:rPr sz="1100" b="0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인디고</a:t>
            </a:r>
            <a:endParaRPr sz="1100" b="0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697035" y="3154680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81A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661904" y="3446922"/>
            <a:ext cx="9144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100" b="0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능선</a:t>
            </a:r>
            <a:r>
              <a:rPr lang="ko-KR" altLang="en-US" sz="1100" b="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연두</a:t>
            </a:r>
            <a:endParaRPr sz="1100" b="0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0" name="Picture 79" descr="bg_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677" y="3776106"/>
            <a:ext cx="4541743" cy="2844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82272" y="6547319"/>
            <a:ext cx="454174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함께</a:t>
            </a:r>
            <a:r>
              <a:rPr sz="120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가는</a:t>
            </a:r>
            <a:r>
              <a:rPr sz="120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길 첫 </a:t>
            </a:r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화면</a:t>
            </a:r>
            <a:r>
              <a:rPr sz="120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배경</a:t>
            </a:r>
            <a:endParaRPr sz="1200" b="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50893" y="1883664"/>
            <a:ext cx="151644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달빛을 품은 </a:t>
            </a:r>
            <a:r>
              <a:rPr sz="1400" b="1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인디고</a:t>
            </a:r>
            <a:endParaRPr sz="1400" b="1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1" name="Picture 73" descr="clean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79" y="2212848"/>
            <a:ext cx="1186071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2" name="표시-인디고"/>
          <p:cNvSpPr/>
          <p:nvPr/>
        </p:nvSpPr>
        <p:spPr>
          <a:xfrm>
            <a:off x="710964" y="2277648"/>
            <a:ext cx="593035" cy="2916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cxnSp>
        <p:nvCxnSpPr>
          <p:cNvPr id="60" name="Connector 59"/>
          <p:cNvCxnSpPr>
            <a:stCxn id="82" idx="3"/>
          </p:cNvCxnSpPr>
          <p:nvPr/>
        </p:nvCxnSpPr>
        <p:spPr>
          <a:xfrm>
            <a:off x="1303999" y="2423448"/>
            <a:ext cx="9144224" cy="2342472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19933" y="4352544"/>
            <a:ext cx="156453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물에</a:t>
            </a:r>
            <a:r>
              <a:rPr sz="1400" b="1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비친</a:t>
            </a:r>
            <a:r>
              <a:rPr sz="1400" b="1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일출·황금</a:t>
            </a:r>
            <a:endParaRPr sz="1400" b="1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3" name="Picture 74" descr="clean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681728"/>
            <a:ext cx="1270543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4" name="표시-일출황금"/>
          <p:cNvSpPr/>
          <p:nvPr/>
        </p:nvSpPr>
        <p:spPr>
          <a:xfrm>
            <a:off x="884563" y="5653728"/>
            <a:ext cx="381162" cy="3240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cxnSp>
        <p:nvCxnSpPr>
          <p:cNvPr id="63" name="Connector 62"/>
          <p:cNvCxnSpPr>
            <a:stCxn id="84" idx="3"/>
          </p:cNvCxnSpPr>
          <p:nvPr/>
        </p:nvCxnSpPr>
        <p:spPr>
          <a:xfrm flipV="1">
            <a:off x="1265725" y="4880113"/>
            <a:ext cx="9866101" cy="935615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604534" y="4274736"/>
            <a:ext cx="93775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능선의</a:t>
            </a:r>
            <a:r>
              <a:rPr sz="1400" b="1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연두</a:t>
            </a:r>
            <a:endParaRPr sz="1400" b="1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5" name="Picture 75" descr="clean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0785" y="4603920"/>
            <a:ext cx="1305257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6" name="표시-연두"/>
          <p:cNvSpPr/>
          <p:nvPr/>
        </p:nvSpPr>
        <p:spPr>
          <a:xfrm>
            <a:off x="2916782" y="4765920"/>
            <a:ext cx="522102" cy="3888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cxnSp>
        <p:nvCxnSpPr>
          <p:cNvPr id="66" name="Connector 65"/>
          <p:cNvCxnSpPr>
            <a:stCxn id="86" idx="3"/>
          </p:cNvCxnSpPr>
          <p:nvPr/>
        </p:nvCxnSpPr>
        <p:spPr>
          <a:xfrm>
            <a:off x="3438884" y="4960320"/>
            <a:ext cx="5020299" cy="796968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061449" y="20512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호수의</a:t>
            </a:r>
            <a:r>
              <a:rPr sz="1400" b="1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청록</a:t>
            </a:r>
            <a:endParaRPr sz="1400" b="1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7" name="Picture 76" descr="clean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5325" y="2380417"/>
            <a:ext cx="1243929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8" name="표시-청록"/>
          <p:cNvSpPr/>
          <p:nvPr/>
        </p:nvSpPr>
        <p:spPr>
          <a:xfrm>
            <a:off x="2482642" y="3676417"/>
            <a:ext cx="410496" cy="242999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cxnSp>
        <p:nvCxnSpPr>
          <p:cNvPr id="69" name="Connector 68"/>
          <p:cNvCxnSpPr>
            <a:stCxn id="88" idx="3"/>
          </p:cNvCxnSpPr>
          <p:nvPr/>
        </p:nvCxnSpPr>
        <p:spPr>
          <a:xfrm>
            <a:off x="2893138" y="3797917"/>
            <a:ext cx="4342345" cy="405251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456474" y="3054096"/>
            <a:ext cx="115736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가을 숲의 주황</a:t>
            </a:r>
          </a:p>
        </p:txBody>
      </p:sp>
      <p:pic>
        <p:nvPicPr>
          <p:cNvPr id="89" name="Picture 77" descr="clean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7408" y="3383280"/>
            <a:ext cx="1255500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90" name="표시-주황"/>
          <p:cNvSpPr/>
          <p:nvPr/>
        </p:nvSpPr>
        <p:spPr>
          <a:xfrm>
            <a:off x="5160708" y="4031280"/>
            <a:ext cx="401760" cy="4212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cxnSp>
        <p:nvCxnSpPr>
          <p:cNvPr id="72" name="Connector 71"/>
          <p:cNvCxnSpPr>
            <a:stCxn id="90" idx="3"/>
          </p:cNvCxnSpPr>
          <p:nvPr/>
        </p:nvCxnSpPr>
        <p:spPr>
          <a:xfrm>
            <a:off x="5562468" y="4241880"/>
            <a:ext cx="4971420" cy="1573848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1422592" y="637488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AB6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05   백 </a:t>
            </a:r>
            <a:r>
              <a:rPr sz="2400" b="1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그라운드</a:t>
            </a:r>
            <a:r>
              <a:rPr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이미지</a:t>
            </a:r>
            <a:r>
              <a:rPr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기획</a:t>
            </a:r>
            <a:endParaRPr sz="2400" b="1" dirty="0">
              <a:solidFill>
                <a:srgbClr val="E877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만든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배경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(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회장님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그림에서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영감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받은것들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91056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3352784" y="1481328"/>
            <a:ext cx="5486400" cy="118872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90528" y="1572768"/>
            <a:ext cx="5010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무엇을</a:t>
            </a:r>
            <a:r>
              <a:rPr sz="22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2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가져왔는가</a:t>
            </a:r>
            <a:endParaRPr sz="2000" b="1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90528" y="1984248"/>
            <a:ext cx="5010912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표시한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자리의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다섯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색을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그대로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옮겼습니다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산과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능선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물에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비친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빛에서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일출을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얻었습니다</a:t>
            </a:r>
            <a:r>
              <a:rPr sz="175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52784" y="2752344"/>
            <a:ext cx="987552" cy="274320"/>
          </a:xfrm>
          <a:prstGeom prst="roundRect">
            <a:avLst>
              <a:gd name="adj" fmla="val 30000"/>
            </a:avLst>
          </a:prstGeom>
          <a:solidFill>
            <a:srgbClr val="EF8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38870" y="2752815"/>
            <a:ext cx="98755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숲의</a:t>
            </a:r>
            <a:r>
              <a:rPr sz="12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주황</a:t>
            </a:r>
            <a:endParaRPr sz="1100" b="0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477496" y="2752344"/>
            <a:ext cx="987552" cy="274320"/>
          </a:xfrm>
          <a:prstGeom prst="roundRect">
            <a:avLst>
              <a:gd name="adj" fmla="val 30000"/>
            </a:avLst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45862" y="2797171"/>
            <a:ext cx="65081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일출 </a:t>
            </a:r>
            <a:r>
              <a:rPr sz="1200" b="1" dirty="0" err="1" smtClean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황금</a:t>
            </a:r>
            <a:endParaRPr sz="1100" b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602208" y="2752344"/>
            <a:ext cx="987552" cy="274320"/>
          </a:xfrm>
          <a:prstGeom prst="roundRect">
            <a:avLst>
              <a:gd name="adj" fmla="val 30000"/>
            </a:avLst>
          </a:prstGeom>
          <a:solidFill>
            <a:srgbClr val="8FC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93630" y="2797171"/>
            <a:ext cx="80470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호수의 </a:t>
            </a:r>
            <a:r>
              <a:rPr sz="1200" b="1" dirty="0" err="1" smtClean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청록</a:t>
            </a:r>
            <a:endParaRPr sz="1100" b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726920" y="2752344"/>
            <a:ext cx="987552" cy="274320"/>
          </a:xfrm>
          <a:prstGeom prst="roundRect">
            <a:avLst>
              <a:gd name="adj" fmla="val 30000"/>
            </a:avLst>
          </a:prstGeom>
          <a:solidFill>
            <a:srgbClr val="58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26920" y="2752344"/>
            <a:ext cx="98755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달빛 </a:t>
            </a:r>
            <a:r>
              <a:rPr sz="12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인디고</a:t>
            </a:r>
            <a:endParaRPr sz="1100" b="0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851632" y="2752344"/>
            <a:ext cx="987552" cy="274320"/>
          </a:xfrm>
          <a:prstGeom prst="roundRect">
            <a:avLst>
              <a:gd name="adj" fmla="val 30000"/>
            </a:avLst>
          </a:prstGeom>
          <a:solidFill>
            <a:srgbClr val="81A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51632" y="2752344"/>
            <a:ext cx="98755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ko-KR" altLang="en-US" sz="12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능선</a:t>
            </a:r>
            <a:r>
              <a:rPr lang="ko-KR" altLang="en-US" sz="12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연두</a:t>
            </a:r>
            <a:endParaRPr sz="1100" b="0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0" name="Picture 79" descr="bg_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998" y="3114925"/>
            <a:ext cx="5576567" cy="3492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540535" y="6611112"/>
            <a:ext cx="511089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함께</a:t>
            </a:r>
            <a:r>
              <a:rPr sz="120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가는</a:t>
            </a:r>
            <a:r>
              <a:rPr sz="120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길 첫 </a:t>
            </a:r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화면</a:t>
            </a:r>
            <a:r>
              <a:rPr sz="120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배경</a:t>
            </a:r>
            <a:endParaRPr sz="1200" b="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308394" y="4298475"/>
            <a:ext cx="151644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달빛을 품은 </a:t>
            </a:r>
            <a:r>
              <a:rPr sz="1400" b="1" dirty="0" err="1" smtClean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인디고</a:t>
            </a:r>
            <a:endParaRPr sz="1400" b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1" name="Picture 73" descr="clean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580" y="4627659"/>
            <a:ext cx="1186071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2" name="표시-인디고"/>
          <p:cNvSpPr/>
          <p:nvPr/>
        </p:nvSpPr>
        <p:spPr>
          <a:xfrm>
            <a:off x="9568465" y="4692459"/>
            <a:ext cx="593035" cy="2916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83972" y="1664497"/>
            <a:ext cx="156453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물에</a:t>
            </a:r>
            <a:r>
              <a:rPr sz="14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비친</a:t>
            </a:r>
            <a:r>
              <a:rPr sz="14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일출·황금</a:t>
            </a:r>
            <a:endParaRPr sz="1400" b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3" name="Picture 74" descr="clean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967" y="1993681"/>
            <a:ext cx="1270543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4" name="표시-일출황금"/>
          <p:cNvSpPr/>
          <p:nvPr/>
        </p:nvSpPr>
        <p:spPr>
          <a:xfrm>
            <a:off x="10102882" y="2965681"/>
            <a:ext cx="381162" cy="3240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776921" y="1743860"/>
            <a:ext cx="93775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능선의</a:t>
            </a:r>
            <a:r>
              <a:rPr sz="14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연두</a:t>
            </a:r>
            <a:endParaRPr sz="1400" b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5" name="Picture 75" descr="clean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3172" y="2073044"/>
            <a:ext cx="1305257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6" name="표시-연두"/>
          <p:cNvSpPr/>
          <p:nvPr/>
        </p:nvSpPr>
        <p:spPr>
          <a:xfrm>
            <a:off x="2089169" y="2235044"/>
            <a:ext cx="522102" cy="3888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94716" y="2493452"/>
            <a:ext cx="93775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호수의</a:t>
            </a:r>
            <a:r>
              <a:rPr sz="14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청록</a:t>
            </a:r>
            <a:endParaRPr sz="1400" b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7" name="Picture 76" descr="clean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630" y="2822636"/>
            <a:ext cx="1243929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8" name="표시-청록"/>
          <p:cNvSpPr/>
          <p:nvPr/>
        </p:nvSpPr>
        <p:spPr>
          <a:xfrm>
            <a:off x="178947" y="4118636"/>
            <a:ext cx="410496" cy="242999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676698" y="4681728"/>
            <a:ext cx="11573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가을</a:t>
            </a:r>
            <a:r>
              <a:rPr sz="14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숲의</a:t>
            </a:r>
            <a:r>
              <a:rPr sz="14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주황</a:t>
            </a:r>
            <a:endParaRPr sz="1400" b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9" name="Picture 77" descr="clean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7631" y="5010912"/>
            <a:ext cx="1255500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90" name="표시-주황"/>
          <p:cNvSpPr/>
          <p:nvPr/>
        </p:nvSpPr>
        <p:spPr>
          <a:xfrm>
            <a:off x="2380931" y="5658912"/>
            <a:ext cx="401760" cy="4212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1430000" y="635508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AB6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cxnSp>
        <p:nvCxnSpPr>
          <p:cNvPr id="69" name="Connector 68"/>
          <p:cNvCxnSpPr>
            <a:stCxn id="88" idx="3"/>
          </p:cNvCxnSpPr>
          <p:nvPr/>
        </p:nvCxnSpPr>
        <p:spPr>
          <a:xfrm>
            <a:off x="589443" y="4240136"/>
            <a:ext cx="3126764" cy="3708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stCxn id="86" idx="2"/>
          </p:cNvCxnSpPr>
          <p:nvPr/>
        </p:nvCxnSpPr>
        <p:spPr>
          <a:xfrm>
            <a:off x="2350220" y="2623844"/>
            <a:ext cx="3042739" cy="2988700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90" idx="3"/>
          </p:cNvCxnSpPr>
          <p:nvPr/>
        </p:nvCxnSpPr>
        <p:spPr>
          <a:xfrm flipV="1">
            <a:off x="2782691" y="5861304"/>
            <a:ext cx="4249045" cy="8208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84" idx="1"/>
          </p:cNvCxnSpPr>
          <p:nvPr/>
        </p:nvCxnSpPr>
        <p:spPr>
          <a:xfrm flipH="1">
            <a:off x="8244093" y="3127681"/>
            <a:ext cx="1858789" cy="1209003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82" idx="1"/>
          </p:cNvCxnSpPr>
          <p:nvPr/>
        </p:nvCxnSpPr>
        <p:spPr>
          <a:xfrm flipH="1" flipV="1">
            <a:off x="7970901" y="4691667"/>
            <a:ext cx="1597564" cy="146592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05   백 </a:t>
            </a:r>
            <a:r>
              <a:rPr sz="2400" b="1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그라운드</a:t>
            </a:r>
            <a:r>
              <a:rPr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이미지</a:t>
            </a:r>
            <a:r>
              <a:rPr sz="2400" b="1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기획</a:t>
            </a:r>
            <a:endParaRPr sz="2400" b="1" dirty="0">
              <a:solidFill>
                <a:srgbClr val="E877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만든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배경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(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회장님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그림에서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영감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받은것들</a:t>
            </a:r>
            <a:r>
              <a:rPr sz="3400" b="1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91056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3352784" y="1554480"/>
            <a:ext cx="5486400" cy="118872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90528" y="1645920"/>
            <a:ext cx="5010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무엇을</a:t>
            </a:r>
            <a:r>
              <a:rPr sz="22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2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가져왔는가</a:t>
            </a:r>
            <a:endParaRPr sz="2000" b="1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90528" y="2057400"/>
            <a:ext cx="5010912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표시한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자리의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다섯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색을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그대로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옮겼습니다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산과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능선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물에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비친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빛에서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일출을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5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얻었습니다</a:t>
            </a:r>
            <a:r>
              <a:rPr sz="1750" b="0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52784" y="2825496"/>
            <a:ext cx="987552" cy="274320"/>
          </a:xfrm>
          <a:prstGeom prst="roundRect">
            <a:avLst>
              <a:gd name="adj" fmla="val 30000"/>
            </a:avLst>
          </a:prstGeom>
          <a:solidFill>
            <a:srgbClr val="EF8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21150" y="3127248"/>
            <a:ext cx="65081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ko-KR" altLang="en-US" sz="1200" b="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숲의</a:t>
            </a:r>
            <a:r>
              <a:rPr sz="1200" b="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주황</a:t>
            </a:r>
            <a:endParaRPr sz="1200" b="0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477496" y="2825496"/>
            <a:ext cx="987552" cy="274320"/>
          </a:xfrm>
          <a:prstGeom prst="roundRect">
            <a:avLst>
              <a:gd name="adj" fmla="val 30000"/>
            </a:avLst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45862" y="3127248"/>
            <a:ext cx="65081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ko-KR" altLang="en-US" sz="1200" b="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일출 </a:t>
            </a:r>
            <a:r>
              <a:rPr sz="1200" b="0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황금</a:t>
            </a:r>
            <a:endParaRPr sz="1200" b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602208" y="2825496"/>
            <a:ext cx="987552" cy="274320"/>
          </a:xfrm>
          <a:prstGeom prst="roundRect">
            <a:avLst>
              <a:gd name="adj" fmla="val 30000"/>
            </a:avLst>
          </a:prstGeom>
          <a:solidFill>
            <a:srgbClr val="8FC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93630" y="3127248"/>
            <a:ext cx="80470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ko-KR" altLang="en-US" sz="1200" b="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호수의 </a:t>
            </a:r>
            <a:r>
              <a:rPr sz="1200" b="0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청록</a:t>
            </a:r>
            <a:endParaRPr sz="1200" b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726920" y="2825496"/>
            <a:ext cx="987552" cy="274320"/>
          </a:xfrm>
          <a:prstGeom prst="roundRect">
            <a:avLst>
              <a:gd name="adj" fmla="val 30000"/>
            </a:avLst>
          </a:prstGeom>
          <a:solidFill>
            <a:srgbClr val="58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18342" y="3127248"/>
            <a:ext cx="80470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ko-KR" altLang="en-US" sz="1200" b="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달빛 </a:t>
            </a:r>
            <a:r>
              <a:rPr sz="1200" b="0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인디고</a:t>
            </a:r>
            <a:endParaRPr sz="1200" b="0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851632" y="2825496"/>
            <a:ext cx="987552" cy="274320"/>
          </a:xfrm>
          <a:prstGeom prst="roundRect">
            <a:avLst>
              <a:gd name="adj" fmla="val 30000"/>
            </a:avLst>
          </a:prstGeom>
          <a:solidFill>
            <a:srgbClr val="81A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19998" y="3127248"/>
            <a:ext cx="65081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ko-KR" altLang="en-US" sz="1200" b="0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능선</a:t>
            </a:r>
            <a:r>
              <a:rPr lang="ko-KR" altLang="en-US" sz="1200" b="0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연두</a:t>
            </a:r>
            <a:endParaRPr sz="1200" b="0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0" name="Picture 79" descr="bg_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250" y="3373920"/>
            <a:ext cx="5110898" cy="32004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540535" y="6611112"/>
            <a:ext cx="511089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함께</a:t>
            </a:r>
            <a:r>
              <a:rPr sz="120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가는</a:t>
            </a:r>
            <a:r>
              <a:rPr sz="120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길 첫 </a:t>
            </a:r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화면</a:t>
            </a:r>
            <a:r>
              <a:rPr sz="1200" b="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배경</a:t>
            </a:r>
            <a:endParaRPr sz="1200" b="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933094" y="4288536"/>
            <a:ext cx="151644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달빛을 품은 </a:t>
            </a:r>
            <a:r>
              <a:rPr sz="1400" b="1" dirty="0" err="1" smtClean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인디고</a:t>
            </a:r>
            <a:endParaRPr sz="1400" b="1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1" name="Picture 73" descr="clean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4617720"/>
            <a:ext cx="1186071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2" name="표시-인디고"/>
          <p:cNvSpPr/>
          <p:nvPr/>
        </p:nvSpPr>
        <p:spPr>
          <a:xfrm>
            <a:off x="9193165" y="4682520"/>
            <a:ext cx="593035" cy="2916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83972" y="1664497"/>
            <a:ext cx="156453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물에</a:t>
            </a:r>
            <a:r>
              <a:rPr sz="1400" b="1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비친</a:t>
            </a:r>
            <a:r>
              <a:rPr sz="1400" b="1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일출·황금</a:t>
            </a:r>
            <a:endParaRPr sz="1400" b="1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3" name="Picture 74" descr="clean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967" y="1993681"/>
            <a:ext cx="1270543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4" name="표시-일출황금"/>
          <p:cNvSpPr/>
          <p:nvPr/>
        </p:nvSpPr>
        <p:spPr>
          <a:xfrm>
            <a:off x="10102882" y="2965681"/>
            <a:ext cx="381162" cy="3240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776921" y="1743860"/>
            <a:ext cx="93775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능선의</a:t>
            </a:r>
            <a:r>
              <a:rPr sz="1400" b="1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연두</a:t>
            </a:r>
            <a:endParaRPr sz="1400" b="1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5" name="Picture 75" descr="clean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3172" y="2073044"/>
            <a:ext cx="1305257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6" name="표시-연두"/>
          <p:cNvSpPr/>
          <p:nvPr/>
        </p:nvSpPr>
        <p:spPr>
          <a:xfrm>
            <a:off x="2089169" y="2235044"/>
            <a:ext cx="522102" cy="3888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94716" y="2493452"/>
            <a:ext cx="93775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호수의</a:t>
            </a:r>
            <a:r>
              <a:rPr sz="1400" b="1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청록</a:t>
            </a:r>
            <a:endParaRPr sz="1400" b="1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7" name="Picture 76" descr="clean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630" y="2822636"/>
            <a:ext cx="1243929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88" name="표시-청록"/>
          <p:cNvSpPr/>
          <p:nvPr/>
        </p:nvSpPr>
        <p:spPr>
          <a:xfrm>
            <a:off x="178947" y="4118636"/>
            <a:ext cx="410496" cy="242999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676698" y="4681728"/>
            <a:ext cx="11573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가을</a:t>
            </a:r>
            <a:r>
              <a:rPr sz="1400" b="1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숲의</a:t>
            </a:r>
            <a:r>
              <a:rPr sz="1400" b="1" dirty="0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dirty="0" err="1">
                <a:solidFill>
                  <a:srgbClr val="6C7A87"/>
                </a:solidFill>
                <a:latin typeface="Calibri"/>
                <a:ea typeface="Calibri"/>
                <a:cs typeface="Calibri"/>
              </a:rPr>
              <a:t>주황</a:t>
            </a:r>
            <a:endParaRPr sz="1400" b="1" dirty="0">
              <a:solidFill>
                <a:srgbClr val="6C7A8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9" name="Picture 77" descr="clean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7631" y="5010912"/>
            <a:ext cx="1255500" cy="1620000"/>
          </a:xfrm>
          <a:prstGeom prst="rect">
            <a:avLst/>
          </a:prstGeom>
          <a:ln w="9525">
            <a:solidFill>
              <a:srgbClr val="1F2A36"/>
            </a:solidFill>
          </a:ln>
        </p:spPr>
      </p:pic>
      <p:sp>
        <p:nvSpPr>
          <p:cNvPr id="90" name="표시-주황"/>
          <p:cNvSpPr/>
          <p:nvPr/>
        </p:nvSpPr>
        <p:spPr>
          <a:xfrm>
            <a:off x="2380931" y="5658912"/>
            <a:ext cx="401760" cy="4212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E000"/>
            </a:solidFill>
          </a:ln>
          <a:effectLst>
            <a:glow rad="31750">
              <a:srgbClr val="141828">
                <a:alpha val="45000"/>
              </a:srgbClr>
            </a:glo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1430000" y="635508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AB6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cxnSp>
        <p:nvCxnSpPr>
          <p:cNvPr id="69" name="Connector 68"/>
          <p:cNvCxnSpPr>
            <a:stCxn id="88" idx="3"/>
          </p:cNvCxnSpPr>
          <p:nvPr/>
        </p:nvCxnSpPr>
        <p:spPr>
          <a:xfrm>
            <a:off x="589443" y="4240136"/>
            <a:ext cx="3126764" cy="3708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stCxn id="86" idx="2"/>
          </p:cNvCxnSpPr>
          <p:nvPr/>
        </p:nvCxnSpPr>
        <p:spPr>
          <a:xfrm>
            <a:off x="2350220" y="2623844"/>
            <a:ext cx="3042739" cy="2988700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90" idx="3"/>
          </p:cNvCxnSpPr>
          <p:nvPr/>
        </p:nvCxnSpPr>
        <p:spPr>
          <a:xfrm flipV="1">
            <a:off x="2782691" y="5861304"/>
            <a:ext cx="4249045" cy="8208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84" idx="1"/>
          </p:cNvCxnSpPr>
          <p:nvPr/>
        </p:nvCxnSpPr>
        <p:spPr>
          <a:xfrm flipH="1">
            <a:off x="8244093" y="3127681"/>
            <a:ext cx="1858789" cy="1209003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82" idx="1"/>
          </p:cNvCxnSpPr>
          <p:nvPr/>
        </p:nvCxnSpPr>
        <p:spPr>
          <a:xfrm flipH="1" flipV="1">
            <a:off x="7818157" y="4633950"/>
            <a:ext cx="1375008" cy="194370"/>
          </a:xfrm>
          <a:prstGeom prst="line">
            <a:avLst/>
          </a:prstGeom>
          <a:ln w="25400">
            <a:solidFill>
              <a:srgbClr val="E0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06   </a:t>
            </a:r>
            <a:r>
              <a:rPr sz="2400" b="1" i="0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화면</a:t>
            </a:r>
            <a:r>
              <a:rPr sz="2400" b="1" i="0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i="0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설계</a:t>
            </a:r>
            <a:endParaRPr sz="2400" b="1" i="0" dirty="0">
              <a:solidFill>
                <a:srgbClr val="E877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2412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왜 </a:t>
            </a:r>
            <a:r>
              <a:rPr sz="4000" b="1" i="0" dirty="0" err="1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일출인가</a:t>
            </a:r>
            <a:endParaRPr sz="4000" b="1" i="0" dirty="0">
              <a:solidFill>
                <a:srgbClr val="00304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591056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70078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다 오른 해가 아니라, 떠오르는 중인 해를 골랐습니다.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35508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AB6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8" name="Picture 7" descr="14_bg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" y="2084830"/>
            <a:ext cx="6847032" cy="427939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2084831"/>
            <a:ext cx="4114800" cy="973836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00416" y="2240279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03703"/>
            <a:ext cx="3108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시간</a:t>
            </a:r>
            <a:endParaRPr sz="1800" b="1" i="0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0" y="2578608"/>
            <a:ext cx="3108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가장 밝은 때가 아니라</a:t>
            </a:r>
          </a:p>
          <a:p>
            <a:pPr>
              <a:lnSpc>
                <a:spcPct val="11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밝아지기 시작하는 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3186684"/>
            <a:ext cx="4114800" cy="973836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900416" y="3342132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05556"/>
            <a:ext cx="3108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680460"/>
            <a:ext cx="3108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회장님 작품에서 뽑은 다섯 색을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새로 만들지 않고 그대로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288536"/>
            <a:ext cx="4114800" cy="973836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00416" y="4443983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407407"/>
            <a:ext cx="3108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구도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782312"/>
            <a:ext cx="3108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산 능선과 물에 비친 빛</a:t>
            </a:r>
          </a:p>
          <a:p>
            <a:pPr>
              <a:lnSpc>
                <a:spcPct val="11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왼쪽은 그늘, 오른쪽은 햇빛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5390388"/>
            <a:ext cx="4114800" cy="973836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900416" y="5545836"/>
            <a:ext cx="438912" cy="438912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509259"/>
            <a:ext cx="3108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형상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815584"/>
            <a:ext cx="3108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세로로 세운 둥근 기둥</a:t>
            </a:r>
            <a:endParaRPr sz="1450" b="0" i="0" dirty="0">
              <a:solidFill>
                <a:srgbClr val="2B364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2000"/>
              </a:lnSpc>
            </a:pPr>
            <a:r>
              <a:rPr sz="14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그중 하나는 작품의 나무 연두</a:t>
            </a:r>
          </a:p>
        </p:txBody>
      </p:sp>
    </p:spTree>
    <p:extLst>
      <p:ext uri="{BB962C8B-B14F-4D97-AF65-F5344CB8AC3E}">
        <p14:creationId xmlns:p14="http://schemas.microsoft.com/office/powerpoint/2010/main" val="232751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07   </a:t>
            </a:r>
            <a:r>
              <a:rPr sz="2400" b="1" i="0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화면</a:t>
            </a:r>
            <a:r>
              <a:rPr sz="2400" b="1" i="0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i="0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설계</a:t>
            </a:r>
            <a:r>
              <a:rPr sz="2400" b="1" i="0" dirty="0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400" b="1" i="0" dirty="0" err="1">
                <a:solidFill>
                  <a:srgbClr val="E87722"/>
                </a:solidFill>
                <a:latin typeface="Calibri"/>
                <a:ea typeface="Calibri"/>
                <a:cs typeface="Calibri"/>
              </a:rPr>
              <a:t>자세히</a:t>
            </a:r>
            <a:endParaRPr sz="2400" b="1" i="0" dirty="0">
              <a:solidFill>
                <a:srgbClr val="E877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2412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0304F"/>
                </a:solidFill>
                <a:latin typeface="Cambria"/>
                <a:ea typeface="Cambria"/>
                <a:cs typeface="Cambria"/>
              </a:rPr>
              <a:t>배경에 담은 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91056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70078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화면에 보이는 것 하나하나에 이유를 붙였습니다.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402336"/>
            <a:ext cx="1188720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35508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AB6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8" name="Picture 7" descr="14_bg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24276"/>
            <a:ext cx="6565394" cy="41033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86600" y="2084831"/>
            <a:ext cx="4709160" cy="1389888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06056" y="2231136"/>
            <a:ext cx="493776" cy="493776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4424" y="2194560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 dirty="0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왜 </a:t>
            </a:r>
            <a:r>
              <a:rPr sz="1800" b="1" dirty="0" err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일출인가</a:t>
            </a:r>
            <a:endParaRPr sz="1800" b="1" dirty="0">
              <a:solidFill>
                <a:srgbClr val="0030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64424" y="2542032"/>
            <a:ext cx="36484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장학사업은 1985년에 시작해 41년째입니다. 하루의 사건이 아니라 오래 이어지는 시간이라, 가장 밝은 한낮보다 이제 막 밝아오는 때가 어울린다고 보았습니다. 아직 갈 길이 남았다는 뜻도 담았습니다.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3529584"/>
            <a:ext cx="4709160" cy="1389888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06056" y="3675887"/>
            <a:ext cx="493776" cy="493776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4424" y="3639312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색과 구도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4424" y="3986783"/>
            <a:ext cx="36484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색은 새로 만들지 않고 회장님 작품의 다섯 가지를 그대로 옮겼습니다. 숲의 주황과 일출 황금, 호수의 청록과 달빛 인디고, 그리고 능선의 연두입니다. 산 능선과 물에 비친 빛은 옅게 깔아 글씨를 가리지 않게 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4974336"/>
            <a:ext cx="4709160" cy="1389888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06056" y="5120640"/>
            <a:ext cx="493776" cy="493776"/>
          </a:xfrm>
          <a:prstGeom prst="ellipse">
            <a:avLst/>
          </a:prstGeom>
          <a:solidFill>
            <a:srgbClr val="007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4424" y="5084064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00304F"/>
                </a:solidFill>
                <a:latin typeface="Calibri"/>
                <a:ea typeface="Calibri"/>
                <a:cs typeface="Calibri"/>
              </a:rPr>
              <a:t>형상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4424" y="5431536"/>
            <a:ext cx="36484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>
                <a:solidFill>
                  <a:srgbClr val="2B3641"/>
                </a:solidFill>
                <a:latin typeface="Calibri"/>
                <a:ea typeface="Calibri"/>
                <a:cs typeface="Calibri"/>
              </a:rPr>
              <a:t>세로로 세운 둥근 기둥을 네 모서리에만 두고 본문이 놓이는 가운데는 비웠습니다. 배경이 읽기를 방해하지 않게 하려는 것입니다. 그중 하나는 작품의 나무 연두로 채웠습니다. 저는 이걸 산 위의 나무로 봤습니다.</a:t>
            </a:r>
          </a:p>
        </p:txBody>
      </p:sp>
    </p:spTree>
    <p:extLst>
      <p:ext uri="{BB962C8B-B14F-4D97-AF65-F5344CB8AC3E}">
        <p14:creationId xmlns:p14="http://schemas.microsoft.com/office/powerpoint/2010/main" val="311655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844</Words>
  <Application>Microsoft Office PowerPoint</Application>
  <PresentationFormat>와이드스크린</PresentationFormat>
  <Paragraphs>208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10</vt:i4>
      </vt:variant>
      <vt:variant>
        <vt:lpstr>슬라이드 제목</vt:lpstr>
      </vt:variant>
      <vt:variant>
        <vt:i4>12</vt:i4>
      </vt:variant>
    </vt:vector>
  </HeadingPairs>
  <TitlesOfParts>
    <vt:vector size="29" baseType="lpstr">
      <vt:lpstr>맑은 고딕</vt:lpstr>
      <vt:lpstr>Arial</vt:lpstr>
      <vt:lpstr>Calibri</vt:lpstr>
      <vt:lpstr>Cambria</vt:lpstr>
      <vt:lpstr>Symbol</vt:lpstr>
      <vt:lpstr>Times New Roman</vt:lpstr>
      <vt:lpstr>Wingdings</vt:lpstr>
      <vt:lpstr>Office 테마</vt:lpstr>
      <vt:lpstr>Office 테마</vt:lpstr>
      <vt:lpstr>Office 테마</vt:lpstr>
      <vt:lpstr>Office 테마</vt:lpstr>
      <vt:lpstr>Office 테마</vt:lpstr>
      <vt:lpstr>Office 테마</vt:lpstr>
      <vt:lpstr>Office 테마</vt:lpstr>
      <vt:lpstr>Office 테마</vt:lpstr>
      <vt:lpstr>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심완섭</dc:creator>
  <cp:lastModifiedBy>admin</cp:lastModifiedBy>
  <cp:revision>43</cp:revision>
  <dcterms:modified xsi:type="dcterms:W3CDTF">2026-09-23T03:37:41Z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2026-09-09T11:06:35Z</dcterms:created>
  <dc:creator/>
  <dc:description/>
  <dc:language>en-US</dc:language>
  <cp:lastModifiedBy/>
  <dcterms:modified xsi:type="dcterms:W3CDTF">2026-09-09T11:07:06Z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와이드스크린</vt:lpwstr>
  </property>
  <property fmtid="{D5CDD505-2E9C-101B-9397-08002B2CF9AE}" pid="3" name="Slides">
    <vt:r8>16</vt:r8>
  </property>
</Properties>
</file>